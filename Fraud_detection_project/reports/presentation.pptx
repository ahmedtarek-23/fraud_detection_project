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091" y="29993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Healthcare Provider Fraud Detection Using Machine Learning</a:t>
            </a:r>
            <a:br>
              <a:rPr lang="en-GB" dirty="0"/>
            </a:b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Healthcare fraud costs millions yearly</a:t>
            </a:r>
          </a:p>
          <a:p>
            <a:r>
              <a:rPr lang="en-GB" dirty="0"/>
              <a:t>Manual auditing is expensive and slow</a:t>
            </a:r>
          </a:p>
          <a:p>
            <a:r>
              <a:rPr lang="en-GB" dirty="0"/>
              <a:t>Need automated risk scoring for providers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Fraud rate in providers </a:t>
            </a:r>
            <a:r>
              <a:rPr lang="en-GB" dirty="0" smtClean="0"/>
              <a:t>: </a:t>
            </a:r>
            <a:r>
              <a:rPr lang="en-GB" dirty="0"/>
              <a:t>0.09353049907578559 </a:t>
            </a:r>
            <a:endParaRPr lang="en-GB" dirty="0" smtClean="0"/>
          </a:p>
          <a:p>
            <a:r>
              <a:rPr lang="en-GB" dirty="0" smtClean="0"/>
              <a:t>Fraud </a:t>
            </a:r>
            <a:r>
              <a:rPr lang="en-GB" dirty="0"/>
              <a:t>rate in inpatient claims: 0.5781983495577407 </a:t>
            </a:r>
            <a:endParaRPr lang="en-GB" dirty="0" smtClean="0"/>
          </a:p>
          <a:p>
            <a:r>
              <a:rPr lang="en-GB" dirty="0" smtClean="0"/>
              <a:t>Fraud </a:t>
            </a:r>
            <a:r>
              <a:rPr lang="en-GB" dirty="0"/>
              <a:t>rate in outpatient claims: 0.36581121302900893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Data Checks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✔ Duplicate ID checks</a:t>
            </a:r>
            <a:br>
              <a:rPr lang="en-GB" dirty="0"/>
            </a:br>
            <a:r>
              <a:rPr lang="en-GB" dirty="0"/>
              <a:t>✔ Date validation (claim before discharge)</a:t>
            </a:r>
            <a:br>
              <a:rPr lang="en-GB" dirty="0"/>
            </a:br>
            <a:r>
              <a:rPr lang="en-GB" dirty="0"/>
              <a:t>✔ Claims after death detection</a:t>
            </a:r>
            <a:br>
              <a:rPr lang="en-GB" dirty="0"/>
            </a:br>
            <a:r>
              <a:rPr lang="en-GB" dirty="0"/>
              <a:t>✔ Missing data profiling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3731492"/>
            <a:ext cx="4105275" cy="2394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Provider-Level Features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Total </a:t>
            </a:r>
            <a:r>
              <a:rPr lang="en-GB" dirty="0"/>
              <a:t>claims</a:t>
            </a:r>
          </a:p>
          <a:p>
            <a:r>
              <a:rPr lang="en-GB" dirty="0"/>
              <a:t>Total reimbursement</a:t>
            </a:r>
          </a:p>
          <a:p>
            <a:r>
              <a:rPr lang="en-GB" dirty="0"/>
              <a:t>Claims per patient</a:t>
            </a:r>
          </a:p>
          <a:p>
            <a:r>
              <a:rPr lang="en-GB" dirty="0"/>
              <a:t>Inpatient vs outpatient ratio</a:t>
            </a:r>
          </a:p>
          <a:p>
            <a:r>
              <a:rPr lang="en-GB" dirty="0"/>
              <a:t>Monthly activity features</a:t>
            </a:r>
          </a:p>
          <a:p>
            <a:r>
              <a:rPr lang="en-GB" dirty="0"/>
              <a:t>Geographic states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Problem</a:t>
            </a:r>
            <a:endParaRPr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2644273"/>
            <a:ext cx="545053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is rare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is misleading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Precision–Recall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509" y="486998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ascadia Mono" panose="020B0609020000020004" pitchFamily="49" charset="0"/>
                <a:cs typeface="Cascadia Mono" panose="020B0609020000020004" pitchFamily="49" charset="0"/>
              </a:rPr>
              <a:t>Fraud rate in providers (labels): 0.09353049907578559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Overfitting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✔ Stratified train-test split</a:t>
            </a:r>
            <a:br>
              <a:rPr lang="en-GB" dirty="0"/>
            </a:br>
            <a:r>
              <a:rPr lang="en-GB" dirty="0"/>
              <a:t>✔ SMOTE balancing</a:t>
            </a:r>
            <a:br>
              <a:rPr lang="en-GB" dirty="0"/>
            </a:br>
            <a:r>
              <a:rPr lang="en-GB" dirty="0"/>
              <a:t>✔ Cross-validation</a:t>
            </a:r>
            <a:br>
              <a:rPr lang="en-GB" dirty="0"/>
            </a:br>
            <a:r>
              <a:rPr lang="en-GB" dirty="0"/>
              <a:t>✔ Feature scaling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35527" y="1839462"/>
            <a:ext cx="2794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14256"/>
            <a:ext cx="7105650" cy="2823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Model: Random Forest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Best performance on PR-AUC</a:t>
            </a:r>
            <a:br>
              <a:rPr lang="en-US" dirty="0"/>
            </a:br>
            <a:r>
              <a:rPr lang="en-US" dirty="0"/>
              <a:t>✔ Robust to noise</a:t>
            </a:r>
            <a:br>
              <a:rPr lang="en-US" dirty="0"/>
            </a:br>
            <a:r>
              <a:rPr lang="en-US" dirty="0"/>
              <a:t>✔ Handles feature interactions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21" y="1909763"/>
            <a:ext cx="6429375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186" y="427038"/>
            <a:ext cx="8229600" cy="1143000"/>
          </a:xfrm>
        </p:spPr>
        <p:txBody>
          <a:bodyPr/>
          <a:lstStyle/>
          <a:p>
            <a:r>
              <a:rPr lang="en-US" dirty="0"/>
              <a:t>Error Breakdown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1600200"/>
            <a:ext cx="46101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8186" y="559965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FP = investigation cost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FN = fraud escaping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=== COST ANALYSIS ===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False </a:t>
            </a:r>
            <a:r>
              <a:rPr lang="en-GB" dirty="0"/>
              <a:t>Positives: 48 → Admin Cost = $24,000 False Negatives: 30 → Fraud Loss = $300,000 TOTAL COST IMPACT = $324,000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Drives Fraud Risk?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0326"/>
            <a:ext cx="5839691" cy="43499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Errors Happened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     False </a:t>
            </a:r>
            <a:r>
              <a:rPr lang="en-GB" b="1" dirty="0"/>
              <a:t>Positives:</a:t>
            </a:r>
            <a:endParaRPr lang="en-GB" dirty="0"/>
          </a:p>
          <a:p>
            <a:r>
              <a:rPr lang="en-GB" dirty="0"/>
              <a:t>Large hospitals</a:t>
            </a:r>
          </a:p>
          <a:p>
            <a:r>
              <a:rPr lang="en-GB" dirty="0"/>
              <a:t>Specialized treatments</a:t>
            </a:r>
          </a:p>
          <a:p>
            <a:pPr marL="0" indent="0">
              <a:buNone/>
            </a:pPr>
            <a:r>
              <a:rPr lang="en-GB" b="1" dirty="0" smtClean="0"/>
              <a:t>     False </a:t>
            </a:r>
            <a:r>
              <a:rPr lang="en-GB" b="1" dirty="0"/>
              <a:t>Negatives:</a:t>
            </a:r>
            <a:endParaRPr lang="en-GB" dirty="0"/>
          </a:p>
          <a:p>
            <a:r>
              <a:rPr lang="en-GB" dirty="0"/>
              <a:t>Small fraud hides inside normal activity</a:t>
            </a:r>
          </a:p>
          <a:p>
            <a:r>
              <a:rPr lang="en-GB" dirty="0"/>
              <a:t>High volume low profile providers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✔ Fraud detection is feasible</a:t>
            </a:r>
            <a:br>
              <a:rPr lang="en-GB" dirty="0"/>
            </a:br>
            <a:r>
              <a:rPr lang="en-GB" dirty="0"/>
              <a:t>✔ Model is business usable</a:t>
            </a:r>
            <a:br>
              <a:rPr lang="en-GB" dirty="0"/>
            </a:br>
            <a:r>
              <a:rPr lang="en-GB" dirty="0"/>
              <a:t>✔ Errors are explainable</a:t>
            </a:r>
            <a:br>
              <a:rPr lang="en-GB" dirty="0"/>
            </a:br>
            <a:r>
              <a:rPr lang="en-GB" dirty="0"/>
              <a:t>✔ Continuous improvement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27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169</Words>
  <Application>Microsoft Office PowerPoint</Application>
  <PresentationFormat>On-screen Show (4:3)</PresentationFormat>
  <Paragraphs>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Cascadia Mono</vt:lpstr>
      <vt:lpstr>Office Theme</vt:lpstr>
      <vt:lpstr>Healthcare Provider Fraud Detection Using Machine Learning </vt:lpstr>
      <vt:lpstr>Problem Statement</vt:lpstr>
      <vt:lpstr>Data Sources</vt:lpstr>
      <vt:lpstr>Initial Data Checks</vt:lpstr>
      <vt:lpstr>Creating Provider-Level Features</vt:lpstr>
      <vt:lpstr>Imbalanced Problem</vt:lpstr>
      <vt:lpstr>Preventing Overfitting</vt:lpstr>
      <vt:lpstr>Model Selection</vt:lpstr>
      <vt:lpstr>Final Model: Random Forest</vt:lpstr>
      <vt:lpstr>Evaluation Results</vt:lpstr>
      <vt:lpstr>Error Breakdown</vt:lpstr>
      <vt:lpstr>Business Impact</vt:lpstr>
      <vt:lpstr>What Drives Fraud Risk?</vt:lpstr>
      <vt:lpstr>Why Errors Happened</vt:lpstr>
      <vt:lpstr>Final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Provider Fraud Detection Using Machine Learning</dc:title>
  <dc:subject/>
  <dc:creator>Tarek Metwally</dc:creator>
  <cp:keywords/>
  <dc:description>generated using python-pptx</dc:description>
  <cp:lastModifiedBy>Tarek Metwally</cp:lastModifiedBy>
  <cp:revision>4</cp:revision>
  <dcterms:created xsi:type="dcterms:W3CDTF">2013-01-27T09:14:16Z</dcterms:created>
  <dcterms:modified xsi:type="dcterms:W3CDTF">2025-12-01T19:05:10Z</dcterms:modified>
  <cp:category/>
</cp:coreProperties>
</file>